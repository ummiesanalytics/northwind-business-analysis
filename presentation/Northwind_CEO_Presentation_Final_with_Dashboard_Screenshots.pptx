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574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89920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NORTHWIND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515600" cy="43891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SALES PERFORMANCE &amp; BUSINESS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987552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795548"/>
                </a:solidFill>
                <a:latin typeface="Aptos"/>
              </a:defRPr>
            </a:pPr>
            <a:r>
              <a:t>CEO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46120"/>
            <a:ext cx="10058400" cy="9601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2F3439"/>
                </a:solidFill>
                <a:latin typeface="Aptos"/>
              </a:defRPr>
            </a:pPr>
            <a:r>
              <a:t>An interactive five-page Power BI report examining revenue, products, customers, markets, and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09160"/>
            <a:ext cx="100584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795548"/>
                </a:solidFill>
                <a:latin typeface="Aptos"/>
              </a:defRPr>
            </a:pPr>
            <a:r>
              <a:t>TOOLS &amp;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120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64696E"/>
                </a:solidFill>
                <a:latin typeface="Aptos"/>
              </a:defRPr>
            </a:pPr>
            <a:r>
              <a:t>Power BI Desktop  |  DAX  |  Northwind database via SQLite ODBC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126480"/>
            <a:ext cx="1005840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4696E"/>
                </a:solidFill>
                <a:latin typeface="Aptos"/>
              </a:defRPr>
            </a:pPr>
            <a:r>
              <a:t>Prepared as a capstone business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84632"/>
            <a:ext cx="1005840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What the dashboard shows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0972800" cy="14630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4696E"/>
                </a:solidFill>
                <a:latin typeface="Aptos"/>
              </a:defRPr>
            </a:pPr>
            <a:r>
              <a:t>Northwind Sales Performance | Power BI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43000"/>
            <a:ext cx="2514600" cy="1143000"/>
          </a:xfrm>
          <a:prstGeom prst="roundRect">
            <a:avLst/>
          </a:prstGeom>
          <a:solidFill>
            <a:srgbClr val="EA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252728"/>
            <a:ext cx="2295144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795548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536192"/>
            <a:ext cx="2295144" cy="42062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795548"/>
                </a:solidFill>
                <a:latin typeface="Aptos"/>
              </a:defRPr>
            </a:pPr>
            <a:r>
              <a:t>$1.35M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143000"/>
            <a:ext cx="2514600" cy="1143000"/>
          </a:xfrm>
          <a:prstGeom prst="roundRect">
            <a:avLst/>
          </a:prstGeom>
          <a:solidFill>
            <a:srgbClr val="EA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1252728"/>
            <a:ext cx="2295144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795548"/>
                </a:solidFill>
                <a:latin typeface="Aptos"/>
              </a:defRPr>
            </a:pPr>
            <a:r>
              <a:t>TOTAL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1536192"/>
            <a:ext cx="2295144" cy="42062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795548"/>
                </a:solidFill>
                <a:latin typeface="Aptos"/>
              </a:defRPr>
            </a:pPr>
            <a:r>
              <a:t>830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143000"/>
            <a:ext cx="2514600" cy="1143000"/>
          </a:xfrm>
          <a:prstGeom prst="roundRect">
            <a:avLst/>
          </a:prstGeom>
          <a:solidFill>
            <a:srgbClr val="EA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252728"/>
            <a:ext cx="2295144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795548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1536192"/>
            <a:ext cx="2295144" cy="42062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795548"/>
                </a:solidFill>
                <a:latin typeface="Aptos"/>
              </a:defRPr>
            </a:pPr>
            <a:r>
              <a:t>93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143000"/>
            <a:ext cx="2514600" cy="1143000"/>
          </a:xfrm>
          <a:prstGeom prst="roundRect">
            <a:avLst/>
          </a:prstGeom>
          <a:solidFill>
            <a:srgbClr val="EA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33688" y="1252728"/>
            <a:ext cx="2295144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795548"/>
                </a:solidFill>
                <a:latin typeface="Aptos"/>
              </a:defRPr>
            </a:pPr>
            <a:r>
              <a:t>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536192"/>
            <a:ext cx="2295144" cy="42062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795548"/>
                </a:solidFill>
                <a:latin typeface="Aptos"/>
              </a:defRPr>
            </a:pPr>
            <a:r>
              <a:t>77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651760"/>
            <a:ext cx="512064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795548"/>
                </a:solidFill>
                <a:latin typeface="Aptos"/>
              </a:defRPr>
            </a:pPr>
            <a:r>
              <a:t>Headline findings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154680"/>
            <a:ext cx="5303520" cy="2286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2F3439"/>
                </a:solidFill>
                <a:latin typeface="Aptos"/>
              </a:defRPr>
            </a:pPr>
            <a:r>
              <a:t>•  April 1998 recorded $134,630.56, the peak identified in the monthly analysis.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F3439"/>
                </a:solidFill>
                <a:latin typeface="Aptos"/>
              </a:defRPr>
            </a:pPr>
            <a:r>
              <a:t>•  Beverages leads category revenue in the current dashboard.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F3439"/>
                </a:solidFill>
                <a:latin typeface="Aptos"/>
              </a:defRPr>
            </a:pPr>
            <a:r>
              <a:t>•  The USA leads the visible country sales ranking.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651760"/>
            <a:ext cx="512064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795548"/>
                </a:solidFill>
                <a:latin typeface="Aptos"/>
              </a:defRPr>
            </a:pPr>
            <a:r>
              <a:t>Management 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200400"/>
            <a:ext cx="5166360" cy="1463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F3439"/>
                </a:solidFill>
                <a:latin typeface="Aptos"/>
              </a:defRPr>
            </a:pPr>
            <a:r>
              <a:t>Use the dashboard to monitor sales trends, category performance, customer contribution, and operational patterns. Investigate drivers before committing to changes.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074920"/>
            <a:ext cx="5120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795548"/>
                </a:solidFill>
                <a:latin typeface="Aptos"/>
              </a:defRPr>
            </a:pPr>
            <a:r>
              <a:t>Note: 1998 is a partial year in this dataset.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Data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84632"/>
            <a:ext cx="1005840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From relational database to interactive business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0972800" cy="14630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4696E"/>
                </a:solidFill>
                <a:latin typeface="Aptos"/>
              </a:defRPr>
            </a:pPr>
            <a:r>
              <a:t>Northwind Sales Performance | Power BI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493776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795548"/>
                </a:solidFill>
                <a:latin typeface="Aptos"/>
              </a:defRPr>
            </a:pPr>
            <a:r>
              <a:t>DATA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493776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F3439"/>
                </a:solidFill>
                <a:latin typeface="Aptos"/>
              </a:defRPr>
            </a:pPr>
            <a:r>
              <a:t>Northwind sample business database, connected through SQLite ODBC and loaded into Power BI Desktop.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188720"/>
            <a:ext cx="5212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795548"/>
                </a:solidFill>
                <a:latin typeface="Aptos"/>
              </a:defRPr>
            </a:pPr>
            <a:r>
              <a:t>ANALYTICAL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45920"/>
            <a:ext cx="5303520" cy="2468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F3439"/>
                </a:solidFill>
                <a:latin typeface="Aptos"/>
              </a:defRPr>
            </a:pPr>
            <a:r>
              <a:t>•  Reviewed tables and field types before analysis.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F3439"/>
                </a:solidFill>
                <a:latin typeface="Aptos"/>
              </a:defRPr>
            </a:pPr>
            <a:r>
              <a:t>•  Built relationships across orders, customers, products, categories, employees, and shippers.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F3439"/>
                </a:solidFill>
                <a:latin typeface="Aptos"/>
              </a:defRPr>
            </a:pPr>
            <a:r>
              <a:t>•  Created DAX measures for sales, orders, average order value, quantity, customers, products, and freight.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F3439"/>
                </a:solidFill>
                <a:latin typeface="Aptos"/>
              </a:defRPr>
            </a:pPr>
            <a:r>
              <a:t>•  Built five interactive report pages with slicers and ranked visuals.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10789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795548"/>
                </a:solidFill>
                <a:latin typeface="Aptos"/>
              </a:defRPr>
            </a:pPr>
            <a:r>
              <a:t>SALES CALCULATION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09160"/>
            <a:ext cx="1069848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F3439"/>
                </a:solidFill>
                <a:latin typeface="Aptos"/>
              </a:defRPr>
            </a:pPr>
            <a:r>
              <a:t>Order-line sales = Unit Price × Quantity × (1 − Discount), aggregated across order details.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1069848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4696E"/>
                </a:solidFill>
                <a:latin typeface="Aptos"/>
              </a:defRPr>
            </a:pPr>
            <a:r>
              <a:t>Results describe the available dataset; observed associations do not establish causation.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Sales Performance &amp;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84632"/>
            <a:ext cx="1005840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Revenue scale, year comparisons, and monthly movement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0972800" cy="14630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4696E"/>
                </a:solidFill>
                <a:latin typeface="Aptos"/>
              </a:defRPr>
            </a:pPr>
            <a:r>
              <a:t>Northwind Sales Performance | Power BI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246120" cy="1143000"/>
          </a:xfrm>
          <a:prstGeom prst="roundRect">
            <a:avLst/>
          </a:prstGeom>
          <a:solidFill>
            <a:srgbClr val="EA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252728"/>
            <a:ext cx="3026663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795548"/>
                </a:solidFill>
                <a:latin typeface="Aptos"/>
              </a:defRPr>
            </a:pPr>
            <a:r>
              <a:t>1996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536192"/>
            <a:ext cx="3026663" cy="42062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795548"/>
                </a:solidFill>
                <a:latin typeface="Aptos"/>
              </a:defRPr>
            </a:pPr>
            <a:r>
              <a:t>$226.30K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029967"/>
            <a:ext cx="3026663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4696E"/>
                </a:solidFill>
                <a:latin typeface="Aptos"/>
              </a:defRPr>
            </a:pPr>
            <a:r>
              <a:t>152 orders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143000"/>
            <a:ext cx="3246120" cy="1143000"/>
          </a:xfrm>
          <a:prstGeom prst="roundRect">
            <a:avLst/>
          </a:prstGeom>
          <a:solidFill>
            <a:srgbClr val="EA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252728"/>
            <a:ext cx="3026663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795548"/>
                </a:solidFill>
                <a:latin typeface="Aptos"/>
              </a:defRPr>
            </a:pPr>
            <a:r>
              <a:t>1997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536192"/>
            <a:ext cx="3026663" cy="42062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795548"/>
                </a:solidFill>
                <a:latin typeface="Aptos"/>
              </a:defRPr>
            </a:pPr>
            <a:r>
              <a:t>$658.39K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029967"/>
            <a:ext cx="3026663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4696E"/>
                </a:solidFill>
                <a:latin typeface="Aptos"/>
              </a:defRPr>
            </a:pPr>
            <a:r>
              <a:t>408 orders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143000"/>
            <a:ext cx="3246120" cy="1143000"/>
          </a:xfrm>
          <a:prstGeom prst="roundRect">
            <a:avLst/>
          </a:prstGeom>
          <a:solidFill>
            <a:srgbClr val="EA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252728"/>
            <a:ext cx="3026663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795548"/>
                </a:solidFill>
                <a:latin typeface="Aptos"/>
              </a:defRPr>
            </a:pPr>
            <a:r>
              <a:t>1998 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1536192"/>
            <a:ext cx="3026663" cy="42062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795548"/>
                </a:solidFill>
                <a:latin typeface="Aptos"/>
              </a:defRPr>
            </a:pPr>
            <a:r>
              <a:t>$469.77K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029967"/>
            <a:ext cx="3026663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4696E"/>
                </a:solidFill>
                <a:latin typeface="Aptos"/>
              </a:defRPr>
            </a:pPr>
            <a:r>
              <a:t>270 orders, partial 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651760"/>
            <a:ext cx="5212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795548"/>
                </a:solidFill>
                <a:latin typeface="Aptos"/>
              </a:defRPr>
            </a:pPr>
            <a:r>
              <a:t>What stands 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154680"/>
            <a:ext cx="5212080" cy="23774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F3439"/>
                </a:solidFill>
                <a:latin typeface="Aptos"/>
              </a:defRPr>
            </a:pPr>
            <a:r>
              <a:t>•  1997 has the highest full-year sales among the years shown.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F3439"/>
                </a:solidFill>
                <a:latin typeface="Aptos"/>
              </a:defRPr>
            </a:pPr>
            <a:r>
              <a:t>•  April 1998 reached $134,630.56, the peak identified in the monthly trend.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F3439"/>
                </a:solidFill>
                <a:latin typeface="Aptos"/>
              </a:defRPr>
            </a:pPr>
            <a:r>
              <a:t>•  Dips around February 1997 and January 1998 warrant investigation, not an assumption of recurring seasonality.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651760"/>
            <a:ext cx="50292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795548"/>
                </a:solidFill>
                <a:latin typeface="Aptos"/>
              </a:defRPr>
            </a:pPr>
            <a:r>
              <a:t>Recommended follow-up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154680"/>
            <a:ext cx="5029200" cy="23774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2F3439"/>
                </a:solidFill>
                <a:latin typeface="Aptos"/>
              </a:defRPr>
            </a:pPr>
            <a:r>
              <a:t>•  Break down April 1998 by product, customer, and order count.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F3439"/>
                </a:solidFill>
                <a:latin typeface="Aptos"/>
              </a:defRPr>
            </a:pPr>
            <a:r>
              <a:t>•  Check whether monthly changes align with order volume or product mix.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F3439"/>
                </a:solidFill>
                <a:latin typeface="Aptos"/>
              </a:defRPr>
            </a:pPr>
            <a:r>
              <a:t>•  Avoid direct full-year comparisons with partial-year 1998.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Product &amp; Category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84632"/>
            <a:ext cx="1005840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Revenue and unit volume answer different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0972800" cy="14630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4696E"/>
                </a:solidFill>
                <a:latin typeface="Aptos"/>
              </a:defRPr>
            </a:pPr>
            <a:r>
              <a:t>Northwind Sales Performance | Power BI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246120" cy="1143000"/>
          </a:xfrm>
          <a:prstGeom prst="roundRect">
            <a:avLst/>
          </a:prstGeom>
          <a:solidFill>
            <a:srgbClr val="EA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252728"/>
            <a:ext cx="3026663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795548"/>
                </a:solidFill>
                <a:latin typeface="Aptos"/>
              </a:defRPr>
            </a:pPr>
            <a:r>
              <a:t>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536192"/>
            <a:ext cx="3026663" cy="42062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795548"/>
                </a:solidFill>
                <a:latin typeface="Aptos"/>
              </a:defRPr>
            </a:pPr>
            <a:r>
              <a:t>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143000"/>
            <a:ext cx="3246120" cy="1143000"/>
          </a:xfrm>
          <a:prstGeom prst="roundRect">
            <a:avLst/>
          </a:prstGeom>
          <a:solidFill>
            <a:srgbClr val="EA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252728"/>
            <a:ext cx="3026663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795548"/>
                </a:solidFill>
                <a:latin typeface="Aptos"/>
              </a:defRPr>
            </a:pPr>
            <a:r>
              <a:t>QUANTITY SOLD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536192"/>
            <a:ext cx="3026663" cy="42062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795548"/>
                </a:solidFill>
                <a:latin typeface="Aptos"/>
              </a:defRPr>
            </a:pPr>
            <a:r>
              <a:t>51K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143000"/>
            <a:ext cx="3246120" cy="1143000"/>
          </a:xfrm>
          <a:prstGeom prst="roundRect">
            <a:avLst/>
          </a:prstGeom>
          <a:solidFill>
            <a:srgbClr val="EA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252728"/>
            <a:ext cx="3026663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795548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1536192"/>
            <a:ext cx="3026663" cy="42062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795548"/>
                </a:solidFill>
                <a:latin typeface="Aptos"/>
              </a:defRPr>
            </a:pPr>
            <a:r>
              <a:t>$1.35M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651760"/>
            <a:ext cx="512064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795548"/>
                </a:solidFill>
                <a:latin typeface="Aptos"/>
              </a:defRPr>
            </a:pPr>
            <a:r>
              <a:t>Finding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00400"/>
            <a:ext cx="5029200" cy="1463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F3439"/>
                </a:solidFill>
                <a:latin typeface="Aptos"/>
              </a:defRPr>
            </a:pPr>
            <a:r>
              <a:t>Beverages leads category revenue in the current report. Quantity and product-level views provide a second lens for reviewing volume and individual product performance.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651760"/>
            <a:ext cx="512064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795548"/>
                </a:solidFill>
                <a:latin typeface="Aptos"/>
              </a:defRPr>
            </a:pPr>
            <a:r>
              <a:t>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200400"/>
            <a:ext cx="5212080" cy="21945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2F3439"/>
                </a:solidFill>
                <a:latin typeface="Aptos"/>
              </a:defRPr>
            </a:pPr>
            <a:r>
              <a:t>•  Review sales and quantity together before inventory decisions.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F3439"/>
                </a:solidFill>
                <a:latin typeface="Aptos"/>
              </a:defRPr>
            </a:pPr>
            <a:r>
              <a:t>•  Investigate high-revenue and high-volume products separately.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F3439"/>
                </a:solidFill>
                <a:latin typeface="Aptos"/>
              </a:defRPr>
            </a:pPr>
            <a:r>
              <a:t>•  Check margin and stock data before prioritizing products; sales alone do not establish profitability.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Customer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84632"/>
            <a:ext cx="1005840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Customer base, key accounts, and revenue concentration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0972800" cy="14630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4696E"/>
                </a:solidFill>
                <a:latin typeface="Aptos"/>
              </a:defRPr>
            </a:pPr>
            <a:r>
              <a:t>Northwind Sales Performance | Power BI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246120" cy="1143000"/>
          </a:xfrm>
          <a:prstGeom prst="roundRect">
            <a:avLst/>
          </a:prstGeom>
          <a:solidFill>
            <a:srgbClr val="EA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252728"/>
            <a:ext cx="3026663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795548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536192"/>
            <a:ext cx="3026663" cy="42062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795548"/>
                </a:solidFill>
                <a:latin typeface="Aptos"/>
              </a:defRPr>
            </a:pPr>
            <a:r>
              <a:t>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143000"/>
            <a:ext cx="3246120" cy="1143000"/>
          </a:xfrm>
          <a:prstGeom prst="roundRect">
            <a:avLst/>
          </a:prstGeom>
          <a:solidFill>
            <a:srgbClr val="EA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252728"/>
            <a:ext cx="3026663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795548"/>
                </a:solidFill>
                <a:latin typeface="Aptos"/>
              </a:defRPr>
            </a:pPr>
            <a:r>
              <a:t>COUNTRIES SERVED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536192"/>
            <a:ext cx="3026663" cy="42062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795548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143000"/>
            <a:ext cx="3246120" cy="1143000"/>
          </a:xfrm>
          <a:prstGeom prst="roundRect">
            <a:avLst/>
          </a:prstGeom>
          <a:solidFill>
            <a:srgbClr val="EA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252728"/>
            <a:ext cx="3026663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795548"/>
                </a:solidFill>
                <a:latin typeface="Aptos"/>
              </a:defRPr>
            </a:pPr>
            <a:r>
              <a:t>TOP 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1536192"/>
            <a:ext cx="3026663" cy="42062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795548"/>
                </a:solidFill>
                <a:latin typeface="Aptos"/>
              </a:defRPr>
            </a:pPr>
            <a:r>
              <a:t>$117,483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029967"/>
            <a:ext cx="3026663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4696E"/>
                </a:solidFill>
                <a:latin typeface="Aptos"/>
              </a:defRPr>
            </a:pPr>
            <a:r>
              <a:t>QUICK-Stop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651760"/>
            <a:ext cx="5212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795548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154680"/>
            <a:ext cx="5212080" cy="21031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2F3439"/>
                </a:solidFill>
                <a:latin typeface="Aptos"/>
              </a:defRPr>
            </a:pPr>
            <a:r>
              <a:t>•  QUICK-Stop generated $117,483.39, or 8.7% of total sales.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F3439"/>
                </a:solidFill>
                <a:latin typeface="Aptos"/>
              </a:defRPr>
            </a:pPr>
            <a:r>
              <a:t>•  Save-a-lot Markets generated $115,673.39, or 8.5%.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F3439"/>
                </a:solidFill>
                <a:latin typeface="Aptos"/>
              </a:defRPr>
            </a:pPr>
            <a:r>
              <a:t>•  The USA leads the visible country sales ranking.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651760"/>
            <a:ext cx="512064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795548"/>
                </a:solidFill>
                <a:latin typeface="Aptos"/>
              </a:defRPr>
            </a:pPr>
            <a:r>
              <a:t>Recommended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154680"/>
            <a:ext cx="5120640" cy="21945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F3439"/>
                </a:solidFill>
                <a:latin typeface="Aptos"/>
              </a:defRPr>
            </a:pPr>
            <a:r>
              <a:t>•  Monitor sales and order frequency for major accounts.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F3439"/>
                </a:solidFill>
                <a:latin typeface="Aptos"/>
              </a:defRPr>
            </a:pPr>
            <a:r>
              <a:t>•  Identify customers outside the leading group with repeat-purchase potential.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F3439"/>
                </a:solidFill>
                <a:latin typeface="Aptos"/>
              </a:defRPr>
            </a:pPr>
            <a:r>
              <a:t>•  Review country-level customer count and revenue together before setting market priorities.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Geographic Market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84632"/>
            <a:ext cx="1005840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Understand where revenue and customers are located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0972800" cy="14630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4696E"/>
                </a:solidFill>
                <a:latin typeface="Aptos"/>
              </a:defRPr>
            </a:pPr>
            <a:r>
              <a:t>Northwind Sales Performance | Power BI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493776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795548"/>
                </a:solidFill>
                <a:latin typeface="Aptos"/>
              </a:defRPr>
            </a:pPr>
            <a:r>
              <a:t>CURRENT 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5029200" cy="1417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F3439"/>
                </a:solidFill>
                <a:latin typeface="Aptos"/>
              </a:defRPr>
            </a:pPr>
            <a:r>
              <a:t>The USA leads the visible country sales ranking and has the highest visible customer count (13). Northwind serves 93 customers across 22 countries.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234440"/>
            <a:ext cx="50292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795548"/>
                </a:solidFill>
                <a:latin typeface="Aptos"/>
              </a:defRPr>
            </a:pPr>
            <a:r>
              <a:t>QUESTIONS FOR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83080"/>
            <a:ext cx="5029200" cy="23774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F3439"/>
                </a:solidFill>
                <a:latin typeface="Aptos"/>
              </a:defRPr>
            </a:pPr>
            <a:r>
              <a:t>•  Are high-revenue markets also generating repeat orders?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F3439"/>
                </a:solidFill>
                <a:latin typeface="Aptos"/>
              </a:defRPr>
            </a:pPr>
            <a:r>
              <a:t>•  Which markets have customer counts or sales that are growing or declining?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F3439"/>
                </a:solidFill>
                <a:latin typeface="Aptos"/>
              </a:defRPr>
            </a:pPr>
            <a:r>
              <a:t>•  Do shipping costs or delivery performance differ by market?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754880"/>
            <a:ext cx="1069848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64696E"/>
                </a:solidFill>
                <a:latin typeface="Aptos"/>
              </a:defRPr>
            </a:pPr>
            <a:r>
              <a:t>Caution: Country sales leadership shows where sales are recorded; it does not by itself explain market potential, profitability, or customer satisfaction.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Employee &amp; Shipping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84632"/>
            <a:ext cx="1005840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Order workload and freight expenditure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0972800" cy="14630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4696E"/>
                </a:solidFill>
                <a:latin typeface="Aptos"/>
              </a:defRPr>
            </a:pPr>
            <a:r>
              <a:t>Northwind Sales Performance | Power BI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246120" cy="1143000"/>
          </a:xfrm>
          <a:prstGeom prst="roundRect">
            <a:avLst/>
          </a:prstGeom>
          <a:solidFill>
            <a:srgbClr val="EA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252728"/>
            <a:ext cx="3026663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795548"/>
                </a:solidFill>
                <a:latin typeface="Aptos"/>
              </a:defRPr>
            </a:pPr>
            <a:r>
              <a:t>TOTAL 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536192"/>
            <a:ext cx="3026663" cy="42062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795548"/>
                </a:solidFill>
                <a:latin typeface="Aptos"/>
              </a:defRPr>
            </a:pPr>
            <a:r>
              <a:t>830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143000"/>
            <a:ext cx="3246120" cy="1143000"/>
          </a:xfrm>
          <a:prstGeom prst="roundRect">
            <a:avLst/>
          </a:prstGeom>
          <a:solidFill>
            <a:srgbClr val="EA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252728"/>
            <a:ext cx="3026663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795548"/>
                </a:solidFill>
                <a:latin typeface="Aptos"/>
              </a:defRPr>
            </a:pPr>
            <a:r>
              <a:t>TOTAL FREIGHT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536192"/>
            <a:ext cx="3026663" cy="42062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795548"/>
                </a:solidFill>
                <a:latin typeface="Aptos"/>
              </a:defRPr>
            </a:pPr>
            <a:r>
              <a:t>$64.94K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143000"/>
            <a:ext cx="3246120" cy="1143000"/>
          </a:xfrm>
          <a:prstGeom prst="roundRect">
            <a:avLst/>
          </a:prstGeom>
          <a:solidFill>
            <a:srgbClr val="EA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252728"/>
            <a:ext cx="3026663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795548"/>
                </a:solidFill>
                <a:latin typeface="Aptos"/>
              </a:defRPr>
            </a:pPr>
            <a:r>
              <a:t>TOP ORDER-VOLUME SHIPPER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1536192"/>
            <a:ext cx="3026663" cy="42062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795548"/>
                </a:solidFill>
                <a:latin typeface="Aptos"/>
              </a:defRPr>
            </a:pPr>
            <a:r>
              <a:t>United Package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651760"/>
            <a:ext cx="5212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795548"/>
                </a:solidFill>
                <a:latin typeface="Aptos"/>
              </a:defRPr>
            </a:pPr>
            <a:r>
              <a:t>What the report indicates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154680"/>
            <a:ext cx="5212080" cy="21031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2F3439"/>
                </a:solidFill>
                <a:latin typeface="Aptos"/>
              </a:defRPr>
            </a:pPr>
            <a:r>
              <a:t>•  Employee-associated sales and order counts vary.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F3439"/>
                </a:solidFill>
                <a:latin typeface="Aptos"/>
              </a:defRPr>
            </a:pPr>
            <a:r>
              <a:t>•  United Package handles the highest order volume in the current chart.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F3439"/>
                </a:solidFill>
                <a:latin typeface="Aptos"/>
              </a:defRPr>
            </a:pPr>
            <a:r>
              <a:t>•  Total freight is approximately $64.94K across the dataset.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51760"/>
            <a:ext cx="512064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795548"/>
                </a:solidFill>
                <a:latin typeface="Aptos"/>
              </a:defRPr>
            </a:pPr>
            <a:r>
              <a:t>Recommended follow-up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154680"/>
            <a:ext cx="5120640" cy="21945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F3439"/>
                </a:solidFill>
                <a:latin typeface="Aptos"/>
              </a:defRPr>
            </a:pPr>
            <a:r>
              <a:t>•  Compare employee sales and order counts before interpreting performance.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F3439"/>
                </a:solidFill>
                <a:latin typeface="Aptos"/>
              </a:defRPr>
            </a:pPr>
            <a:r>
              <a:t>•  Compare shipper costs, delivery times, and service quality before reallocating orders.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F3439"/>
                </a:solidFill>
                <a:latin typeface="Aptos"/>
              </a:defRPr>
            </a:pPr>
            <a:r>
              <a:t>•  Investigate freight spikes alongside order volume and shipment patterns.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Prioritized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84632"/>
            <a:ext cx="1005840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Actions grounded in the analysis; validate before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0972800" cy="14630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4696E"/>
                </a:solidFill>
                <a:latin typeface="Aptos"/>
              </a:defRPr>
            </a:pPr>
            <a:r>
              <a:t>Northwind Sales Performance | Power BI Capstone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197864"/>
            <a:ext cx="438912" cy="438912"/>
          </a:xfrm>
          <a:prstGeom prst="ellipse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298448"/>
            <a:ext cx="36576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79554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143000"/>
            <a:ext cx="30175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795548"/>
                </a:solidFill>
                <a:latin typeface="Aptos"/>
              </a:defRPr>
            </a:pPr>
            <a:r>
              <a:t>Investigate the April 1998 peak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143000"/>
            <a:ext cx="685800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F3439"/>
                </a:solidFill>
                <a:latin typeface="Aptos"/>
              </a:defRPr>
            </a:pPr>
            <a:r>
              <a:t>Break the $134,630.56 peak down by product, customer, and order count.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185416"/>
            <a:ext cx="438912" cy="438912"/>
          </a:xfrm>
          <a:prstGeom prst="ellipse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2286000"/>
            <a:ext cx="36576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79554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130552"/>
            <a:ext cx="30175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795548"/>
                </a:solidFill>
                <a:latin typeface="Aptos"/>
              </a:defRPr>
            </a:pPr>
            <a:r>
              <a:t>Strengthen account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130552"/>
            <a:ext cx="685800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F3439"/>
                </a:solidFill>
                <a:latin typeface="Aptos"/>
              </a:defRPr>
            </a:pPr>
            <a:r>
              <a:t>Track revenue and order frequency for QUICK-Stop and Save-a-lot Markets.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172968"/>
            <a:ext cx="438912" cy="438912"/>
          </a:xfrm>
          <a:prstGeom prst="ellipse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3273552"/>
            <a:ext cx="36576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79554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118104"/>
            <a:ext cx="30175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795548"/>
                </a:solidFill>
                <a:latin typeface="Aptos"/>
              </a:defRPr>
            </a:pPr>
            <a:r>
              <a:t>Use two product lenses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118104"/>
            <a:ext cx="685800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F3439"/>
                </a:solidFill>
                <a:latin typeface="Aptos"/>
              </a:defRPr>
            </a:pPr>
            <a:r>
              <a:t>Compare category revenue and quantity sold before stock or assortment decisions.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4160520"/>
            <a:ext cx="438912" cy="438912"/>
          </a:xfrm>
          <a:prstGeom prst="ellipse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4261104"/>
            <a:ext cx="36576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79554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105656"/>
            <a:ext cx="30175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795548"/>
                </a:solidFill>
                <a:latin typeface="Aptos"/>
              </a:defRPr>
            </a:pPr>
            <a:r>
              <a:t>Review shipping economics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105656"/>
            <a:ext cx="685800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F3439"/>
                </a:solidFill>
                <a:latin typeface="Aptos"/>
              </a:defRPr>
            </a:pPr>
            <a:r>
              <a:t>Compare freight expense and delivery service across shippers and periods.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5148072"/>
            <a:ext cx="438912" cy="438912"/>
          </a:xfrm>
          <a:prstGeom prst="ellipse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5248656"/>
            <a:ext cx="36576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79554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093208"/>
            <a:ext cx="30175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795548"/>
                </a:solidFill>
                <a:latin typeface="Aptos"/>
              </a:defRPr>
            </a:pPr>
            <a:r>
              <a:t>Monitor markets over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5093208"/>
            <a:ext cx="685800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F3439"/>
                </a:solidFill>
                <a:latin typeface="Aptos"/>
              </a:defRPr>
            </a:pPr>
            <a:r>
              <a:t>Track country revenue and customer activity, accounting for partial-year 1998.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84632"/>
            <a:ext cx="1005840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Turning dashboard evidence into an ongoing management routine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0972800" cy="14630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4696E"/>
                </a:solidFill>
                <a:latin typeface="Aptos"/>
              </a:defRPr>
            </a:pPr>
            <a:r>
              <a:t>Northwind Sales Performance | Power BI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50292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795548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5029200" cy="1554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F3439"/>
                </a:solidFill>
                <a:latin typeface="Aptos"/>
              </a:defRPr>
            </a:pPr>
            <a:r>
              <a:t>The five-page dashboard provides a unified view of Northwind sales, products, customers, markets, and operations. It helps management explore patterns and prioritize questions for further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234440"/>
            <a:ext cx="512064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795548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83080"/>
            <a:ext cx="5120640" cy="23774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2F3439"/>
                </a:solidFill>
                <a:latin typeface="Aptos"/>
              </a:defRPr>
            </a:pPr>
            <a:r>
              <a:t>•  Review KPI and customer/category movements regularly.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F3439"/>
                </a:solidFill>
                <a:latin typeface="Aptos"/>
              </a:defRPr>
            </a:pPr>
            <a:r>
              <a:t>•  Investigate significant changes before taking operational action.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2F3439"/>
                </a:solidFill>
                <a:latin typeface="Aptos"/>
              </a:defRPr>
            </a:pPr>
            <a:r>
              <a:t>•  Add margin, inventory, delivery-time, and satisfaction data if available.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106984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795548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0698480" cy="8229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4696E"/>
                </a:solidFill>
                <a:latin typeface="Aptos"/>
              </a:defRPr>
            </a:pPr>
            <a:r>
              <a:t>1998 is a partial year. Sales figures alone do not establish profitability, delivery quality, customer satisfaction, or causes of monthly changes. Recommendations should be validated with additional operational evidence.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les Analysis_Northw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" bIns="9144"/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DASHBOARD EVIDENCE  |  Sales Analysis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duct Performanace Northw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" bIns="9144"/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DASHBOARD EVIDENCE  |  Product Performance 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er &amp; Geographic 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" bIns="9144"/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DASHBOARD EVIDENCE  |  Customer &amp; Geographic Analysis Dashboard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ployee &amp; 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" bIns="9144"/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DASHBOARD EVIDENCE  |  Employee &amp; Operations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